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38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89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679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88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071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5019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765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6645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097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6236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017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030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виды технической и технологической документации их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виды,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их стандарты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,оформление документов, регламентов,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протоколов по инфо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системам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61872" y="4878978"/>
            <a:ext cx="9418320" cy="1691640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Митина Романа ИС-31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48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b="1" dirty="0"/>
              <a:t>Что такое техническая документация для ИС?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Техническая документация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набор документов, используемых при проектировании, производстве, эксплуатации и утилизации технических объектов.</a:t>
            </a:r>
          </a:p>
          <a:p>
            <a:pPr fontAlgn="base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контексте ИС: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Документация сопровождает программное обеспечение (ПО) и аппаратные средства.</a:t>
            </a:r>
          </a:p>
          <a:p>
            <a:pPr fontAlgn="base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цель: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Обеспечение однозначного понимания требований к системе, правил её использования и обслуживания.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63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Базовые стандарты (ГОСТ)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ru-RU" dirty="0"/>
              <a:t>Основа документирования в РФ — это система государственных стандартов.</a:t>
            </a:r>
          </a:p>
          <a:p>
            <a:pPr fontAlgn="base"/>
            <a:r>
              <a:rPr lang="ru-RU" b="1" dirty="0"/>
              <a:t>ГОСТ 34.201-2020:</a:t>
            </a:r>
            <a:r>
              <a:rPr lang="ru-RU" dirty="0"/>
              <a:t> Главный стандарт, определяющий виды и комплектность документов при создании АС.</a:t>
            </a:r>
          </a:p>
          <a:p>
            <a:pPr fontAlgn="base"/>
            <a:r>
              <a:rPr lang="ru-RU" b="1" dirty="0"/>
              <a:t>ГОСТ 34.602:</a:t>
            </a:r>
            <a:r>
              <a:rPr lang="ru-RU" dirty="0"/>
              <a:t> Регламентирует структуру и содержание Технического задания (ТЗ).</a:t>
            </a:r>
          </a:p>
          <a:p>
            <a:pPr fontAlgn="base"/>
            <a:r>
              <a:rPr lang="ru-RU" b="1" dirty="0"/>
              <a:t>ЕСКД (ГОСТ 2.102, 2.601):</a:t>
            </a:r>
            <a:r>
              <a:rPr lang="ru-RU" dirty="0"/>
              <a:t> Применяется для описания технических средств (аппаратного обеспечения).</a:t>
            </a:r>
          </a:p>
          <a:p>
            <a:pPr fontAlgn="base"/>
            <a:r>
              <a:rPr lang="ru-RU" b="1" dirty="0"/>
              <a:t>ЕСПД (ГОСТ 19.101):</a:t>
            </a:r>
            <a:r>
              <a:rPr lang="ru-RU" dirty="0"/>
              <a:t> Определяет виды программной документации.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389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b="1" dirty="0"/>
              <a:t>Жизненный цикл документа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95364" y="2778168"/>
            <a:ext cx="11662232" cy="2123658"/>
          </a:xfrm>
          <a:prstGeom prst="rect">
            <a:avLst/>
          </a:prstGeom>
          <a:solidFill>
            <a:srgbClr val="FAF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Состав документации напрямую зависит от стадии разработки системы: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b="1" i="0" u="none" strike="noStrike" cap="none" normalizeH="0" baseline="0" dirty="0" err="1" smtClean="0">
                <a:ln>
                  <a:noFill/>
                </a:ln>
                <a:solidFill>
                  <a:srgbClr val="222222"/>
                </a:solidFill>
                <a:effectLst/>
                <a:latin typeface="inherit"/>
              </a:rPr>
              <a:t>Предпроектная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inherit"/>
              </a:rPr>
              <a:t> стадия: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 Технико-экономическое обоснование (ТЭО), отчёты об исследовании.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inherit"/>
              </a:rPr>
              <a:t>Проектирование: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 Эскизный проект, технический проект.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inherit"/>
              </a:rPr>
              <a:t>Разработка: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 Рабочая документация (руководства, спецификации).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inherit"/>
              </a:rPr>
              <a:t>Внедрение: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 Акты приёмки, протоколы испытаний.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inherit"/>
              </a:rPr>
              <a:t>Эксплуатация: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 Инструкции по использованию и обслуживанию.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517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b="1" dirty="0"/>
              <a:t>Проектная документация: «Чертёж» будущей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ru-RU" b="1" dirty="0"/>
              <a:t>Техническое задание (ТЗ):</a:t>
            </a:r>
            <a:r>
              <a:rPr lang="ru-RU" dirty="0"/>
              <a:t> Фундаментальный документ, согласованный между заказчиком и разработчиком.</a:t>
            </a:r>
          </a:p>
          <a:p>
            <a:pPr fontAlgn="base"/>
            <a:r>
              <a:rPr lang="ru-RU" b="1" dirty="0"/>
              <a:t>Пояснительная записка:</a:t>
            </a:r>
            <a:r>
              <a:rPr lang="ru-RU" dirty="0"/>
              <a:t> Обоснование принятых архитектурных и технических решений.</a:t>
            </a:r>
          </a:p>
          <a:p>
            <a:pPr fontAlgn="base"/>
            <a:r>
              <a:rPr lang="ru-RU" b="1" dirty="0"/>
              <a:t>Описание автоматизируемых функций:</a:t>
            </a:r>
            <a:r>
              <a:rPr lang="ru-RU" dirty="0"/>
              <a:t> Детализация того, что именно делает система.</a:t>
            </a:r>
          </a:p>
          <a:p>
            <a:pPr fontAlgn="base"/>
            <a:r>
              <a:rPr lang="ru-RU" b="1" dirty="0"/>
              <a:t>Схемы структуры:</a:t>
            </a:r>
            <a:r>
              <a:rPr lang="ru-RU" dirty="0"/>
              <a:t> Визуализация взаимодействия компонентов и подсистем.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841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Эксплуатационная документация: Для пользователя и админа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ru-RU" b="1" dirty="0"/>
              <a:t>Руководство пользователя:</a:t>
            </a:r>
            <a:r>
              <a:rPr lang="ru-RU" dirty="0"/>
              <a:t> Пошаговое описание действий в интерфейсе ПО для выполнения бизнес-задач.</a:t>
            </a:r>
          </a:p>
          <a:p>
            <a:pPr fontAlgn="base"/>
            <a:r>
              <a:rPr lang="ru-RU" b="1" dirty="0"/>
              <a:t>Руководство администратора:</a:t>
            </a:r>
            <a:r>
              <a:rPr lang="ru-RU" dirty="0"/>
              <a:t> Инструкции по установке, настройке, резервному копированию и восстановлению работоспособности.</a:t>
            </a:r>
          </a:p>
          <a:p>
            <a:pPr fontAlgn="base"/>
            <a:r>
              <a:rPr lang="ru-RU" b="1" dirty="0"/>
              <a:t>Формуляр:</a:t>
            </a:r>
            <a:r>
              <a:rPr lang="ru-RU" dirty="0"/>
              <a:t> Документ, фиксирующий характеристики ПО, историю версий и изменений.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866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b="1" dirty="0"/>
              <a:t>Организационно-распорядительные документы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b="1" dirty="0"/>
              <a:t>Приказы:</a:t>
            </a:r>
            <a:r>
              <a:rPr lang="ru-RU" dirty="0"/>
              <a:t> О начале работ, о назначении ответственных лиц и приёмочной комиссии.</a:t>
            </a:r>
          </a:p>
          <a:p>
            <a:pPr fontAlgn="base"/>
            <a:r>
              <a:rPr lang="ru-RU" b="1" dirty="0"/>
              <a:t>План-график:</a:t>
            </a:r>
            <a:r>
              <a:rPr lang="ru-RU" dirty="0"/>
              <a:t> Календарный план реализации проекта.</a:t>
            </a:r>
          </a:p>
          <a:p>
            <a:pPr fontAlgn="base"/>
            <a:r>
              <a:rPr lang="ru-RU" b="1" dirty="0"/>
              <a:t>Программа проведения работ:</a:t>
            </a:r>
            <a:r>
              <a:rPr lang="ru-RU" dirty="0"/>
              <a:t> Например, программа опытной эксплуатации.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174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Протоколы и акты: Фиксация результата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b="1" dirty="0"/>
              <a:t>Протокол испытаний:</a:t>
            </a:r>
            <a:r>
              <a:rPr lang="ru-RU" dirty="0"/>
              <a:t> Отчёт о проведённых тестах с указанием результатов и выявленных недостатков.</a:t>
            </a:r>
          </a:p>
          <a:p>
            <a:pPr fontAlgn="base"/>
            <a:r>
              <a:rPr lang="ru-RU" b="1" dirty="0"/>
              <a:t>Акт приёмки в опытную эксплуатацию:</a:t>
            </a:r>
            <a:r>
              <a:rPr lang="ru-RU" dirty="0"/>
              <a:t> Подтверждает работоспособность системы в контролируемом режиме.</a:t>
            </a:r>
          </a:p>
          <a:p>
            <a:pPr fontAlgn="base"/>
            <a:r>
              <a:rPr lang="ru-RU" b="1" dirty="0"/>
              <a:t>Акт ввода в промышленную эксплуатацию:</a:t>
            </a:r>
            <a:r>
              <a:rPr lang="ru-RU" dirty="0"/>
              <a:t> Официальный запуск системы в реальную работу организации.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502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b="1" dirty="0"/>
              <a:t>Правила оформления и идентификации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b="1" dirty="0"/>
              <a:t>Уникальное обозначение:</a:t>
            </a:r>
            <a:r>
              <a:rPr lang="ru-RU" dirty="0"/>
              <a:t> Каждый документ получает свой код.</a:t>
            </a:r>
          </a:p>
          <a:p>
            <a:pPr fontAlgn="base"/>
            <a:r>
              <a:rPr lang="ru-RU" b="1" dirty="0"/>
              <a:t>Структура кода:</a:t>
            </a:r>
            <a:r>
              <a:rPr lang="ru-RU" dirty="0"/>
              <a:t> Обычно включает код организации-разработчика, классификационный код системы и порядковый номер.</a:t>
            </a:r>
          </a:p>
          <a:p>
            <a:pPr fontAlgn="base"/>
            <a:r>
              <a:rPr lang="ru-RU" b="1" dirty="0"/>
              <a:t>Версионность:</a:t>
            </a:r>
            <a:r>
              <a:rPr lang="ru-RU" dirty="0"/>
              <a:t> Присвоение номеров редакций и частей документа.</a:t>
            </a:r>
          </a:p>
          <a:p>
            <a:pPr fontAlgn="base"/>
            <a:r>
              <a:rPr lang="ru-RU" b="1" dirty="0"/>
              <a:t>Комплектность:</a:t>
            </a:r>
            <a:r>
              <a:rPr lang="ru-RU" dirty="0"/>
              <a:t> На каждый набор документов составляется ведомость.</a:t>
            </a:r>
          </a:p>
        </p:txBody>
      </p:sp>
    </p:spTree>
    <p:extLst>
      <p:ext uri="{BB962C8B-B14F-4D97-AF65-F5344CB8AC3E}">
        <p14:creationId xmlns:p14="http://schemas.microsoft.com/office/powerpoint/2010/main" val="2318312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Полный пакет документации, оформленный по стандартам (в первую очередь ГОСТ 34 серии), является залогом успешного проекта.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908570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</TotalTime>
  <Words>454</Words>
  <Application>Microsoft Office PowerPoint</Application>
  <PresentationFormat>Широкоэкранный</PresentationFormat>
  <Paragraphs>43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inherit</vt:lpstr>
      <vt:lpstr>Times New Roman</vt:lpstr>
      <vt:lpstr>Ретро</vt:lpstr>
      <vt:lpstr>Основные виды технической и технологической документации их виды, их стандарты ,оформление документов, регламентов, протоколов по инфо системам</vt:lpstr>
      <vt:lpstr>Что такое техническая документация для ИС?</vt:lpstr>
      <vt:lpstr>Базовые стандарты (ГОСТ)</vt:lpstr>
      <vt:lpstr>Жизненный цикл документа</vt:lpstr>
      <vt:lpstr>Проектная документация: «Чертёж» будущей системы</vt:lpstr>
      <vt:lpstr>Эксплуатационная документация: Для пользователя и админа</vt:lpstr>
      <vt:lpstr>Организационно-распорядительные документы</vt:lpstr>
      <vt:lpstr>Протоколы и акты: Фиксация результата</vt:lpstr>
      <vt:lpstr>Правила оформления и идентификации</vt:lpstr>
      <vt:lpstr>Заключение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виды технической и технологической документации их виды, их стандарты ,оформление документов, регламентов, протоколов по инфо системам</dc:title>
  <dc:creator>Студент</dc:creator>
  <cp:lastModifiedBy>Студент</cp:lastModifiedBy>
  <cp:revision>3</cp:revision>
  <dcterms:created xsi:type="dcterms:W3CDTF">2026-05-28T12:05:39Z</dcterms:created>
  <dcterms:modified xsi:type="dcterms:W3CDTF">2026-05-28T12:32:58Z</dcterms:modified>
</cp:coreProperties>
</file>